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page 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mbh Mela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7" y="109728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8346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5B942"/>
                </a:solidFill>
                <a:latin typeface="Calibri"/>
              </a:defRPr>
            </a:pPr>
            <a:r>
              <a:t>ARDH KUMBH MELA 2027  ·  HARIDWAR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1">
                <a:solidFill>
                  <a:srgbClr val="CCCCCC"/>
                </a:solidFill>
                <a:latin typeface="Georgia"/>
              </a:defRPr>
            </a:pPr>
            <a:r>
              <a:t>Official Digital Partner — Ardh Kumbh Mela 2027, Haridwar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047" y="4617720"/>
            <a:ext cx="137160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150M+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Projected Pilgrims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Days of Divinity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Jan–Apr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The Official Digital Platform for Ardh Kumbh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A5A"/>
                </a:solidFill>
                <a:latin typeface="Calibri"/>
              </a:defRPr>
            </a:pPr>
            <a:r>
              <a:t>chalokumbh.com is a comprehensive web platform designed to digitise and elevate the Ardh Kumbh Mela 2027 experience — from ritual booking to environmental stewardship.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Online Puja &amp; E-Seva</a:t>
            </a:r>
            <a:r>
              <a:rPr sz="1300">
                <a:solidFill>
                  <a:srgbClr val="5A5A5A"/>
                </a:solidFill>
                <a:latin typeface="Calibri"/>
              </a:rPr>
              <a:t> — Book sacred rituals and receive Prasad delivery worldwide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Live Darshan Streaming</a:t>
            </a:r>
            <a:r>
              <a:rPr sz="1300">
                <a:solidFill>
                  <a:srgbClr val="5A5A5A"/>
                </a:solidFill>
                <a:latin typeface="Calibri"/>
              </a:rPr>
              <a:t> — Watch ceremonies live from Har Ki Pauri via WebRTC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Hotel &amp; Stay Booking</a:t>
            </a:r>
            <a:r>
              <a:rPr sz="1300">
                <a:solidFill>
                  <a:srgbClr val="5A5A5A"/>
                </a:solidFill>
                <a:latin typeface="Calibri"/>
              </a:rPr>
              <a:t> — Curated accommodations with real-time availability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Green Haridwar</a:t>
            </a:r>
            <a:r>
              <a:rPr sz="1300">
                <a:solidFill>
                  <a:srgbClr val="5A5A5A"/>
                </a:solidFill>
                <a:latin typeface="Calibri"/>
              </a:rPr>
              <a:t> — Environmental monitoring, volunteer drives &amp; gamified challenges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Multi-Portal System</a:t>
            </a:r>
            <a:r>
              <a:rPr sz="1300">
                <a:solidFill>
                  <a:srgbClr val="5A5A5A"/>
                </a:solidFill>
                <a:latin typeface="Calibri"/>
              </a:rPr>
              <a:t> — Dedicated dashboards for Pandits, Hotels, and Admin</a:t>
            </a:r>
          </a:p>
        </p:txBody>
      </p:sp>
      <p:pic>
        <p:nvPicPr>
          <p:cNvPr id="11" name="Picture 10" descr="Homepage 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pic>
        <p:nvPicPr>
          <p:cNvPr id="6" name="Picture 5" descr="Online Puja Booking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ONLINE PUJA &amp; E-SEVA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Book Sacred Rituals from Anywhere in the World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A5A5A"/>
                </a:solidFill>
                <a:latin typeface="Calibri"/>
              </a:defRPr>
            </a:pPr>
            <a:r>
              <a:t>Devotees can browse, customise, and book authentic Vedic rituals performed by verified pandits at Haridwar's sacred ghats — with live-streamed ceremonies and Prasad shipped to their door.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017520"/>
            <a:ext cx="1234440" cy="4572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 i="0">
                <a:solidFill>
                  <a:srgbClr val="D46A0A"/>
                </a:solidFill>
                <a:latin typeface="Calibri"/>
              </a:defRPr>
            </a:pPr>
            <a:r>
              <a:t>1. Choose Ritual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017520"/>
            <a:ext cx="1234440" cy="4572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 i="0">
                <a:solidFill>
                  <a:srgbClr val="D46A0A"/>
                </a:solidFill>
                <a:latin typeface="Calibri"/>
              </a:defRPr>
            </a:pPr>
            <a:r>
              <a:t>2. Select Date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17520"/>
            <a:ext cx="1234440" cy="4572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 i="0">
                <a:solidFill>
                  <a:srgbClr val="D46A0A"/>
                </a:solidFill>
                <a:latin typeface="Calibri"/>
              </a:defRPr>
            </a:pPr>
            <a:r>
              <a:t>3. Pick Pandit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3017520"/>
            <a:ext cx="1234440" cy="45720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 i="0">
                <a:solidFill>
                  <a:srgbClr val="D46A0A"/>
                </a:solidFill>
                <a:latin typeface="Calibri"/>
              </a:defRPr>
            </a:pPr>
            <a:r>
              <a:t>4. Join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50+ Rituals Available</a:t>
            </a:r>
            <a:r>
              <a:rPr sz="1300">
                <a:solidFill>
                  <a:srgbClr val="5A5A5A"/>
                </a:solidFill>
                <a:latin typeface="Calibri"/>
              </a:rPr>
              <a:t> — Ganga Aarti, Rudrabhishek, Satyanarayan &amp; more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Prasad Delivery</a:t>
            </a:r>
            <a:r>
              <a:rPr sz="1300">
                <a:solidFill>
                  <a:srgbClr val="5A5A5A"/>
                </a:solidFill>
                <a:latin typeface="Calibri"/>
              </a:rPr>
              <a:t> — Sacred offerings shipped across India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Personalised Sankalp</a:t>
            </a:r>
            <a:r>
              <a:rPr sz="1300">
                <a:solidFill>
                  <a:srgbClr val="5A5A5A"/>
                </a:solidFill>
                <a:latin typeface="Calibri"/>
              </a:rPr>
              <a:t> — Custom prayer invocations with devotee's name &amp; gotra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LIVE DARSHAN  ·  REAL-TIME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Watch Sacred Ceremonies Live — Worldwide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Homepage Integration</a:t>
            </a:r>
            <a:r>
              <a:rPr sz="1300">
                <a:solidFill>
                  <a:srgbClr val="5A5A5A"/>
                </a:solidFill>
                <a:latin typeface="Calibri"/>
              </a:rPr>
              <a:t> — Live stream embedded directly on the landing page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No Login Required</a:t>
            </a:r>
            <a:r>
              <a:rPr sz="1300">
                <a:solidFill>
                  <a:srgbClr val="5A5A5A"/>
                </a:solidFill>
                <a:latin typeface="Calibri"/>
              </a:rPr>
              <a:t> — Open access for millions of concurrent viewers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QR Code Access</a:t>
            </a:r>
            <a:r>
              <a:rPr sz="1300">
                <a:solidFill>
                  <a:srgbClr val="5A5A5A"/>
                </a:solidFill>
                <a:latin typeface="Calibri"/>
              </a:rPr>
              <a:t> — Scan-to-watch for on-ground pilgrims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Admin Stream Control</a:t>
            </a:r>
            <a:r>
              <a:rPr sz="1300">
                <a:solidFill>
                  <a:srgbClr val="5A5A5A"/>
                </a:solidFill>
                <a:latin typeface="Calibri"/>
              </a:rPr>
              <a:t> — Start, stop, and manage streams from the Company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5029200" cy="594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D5B"/>
                </a:solidFill>
                <a:latin typeface="Calibri"/>
              </a:defRPr>
            </a:pPr>
            <a:r>
              <a:t>Technology:  </a:t>
            </a:r>
            <a:r>
              <a:rPr sz="1100">
                <a:solidFill>
                  <a:srgbClr val="5A5A5A"/>
                </a:solidFill>
                <a:latin typeface="Calibri"/>
              </a:rPr>
              <a:t>LiveKit Cloud  ·  WebRTC  ·  Viewer token auth  ·  Multi-stream support</a:t>
            </a:r>
          </a:p>
        </p:txBody>
      </p:sp>
      <p:pic>
        <p:nvPicPr>
          <p:cNvPr id="12" name="Picture 11" descr="Live Darshan Section 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pic>
        <p:nvPicPr>
          <p:cNvPr id="6" name="Picture 5" descr="Hotels Listing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HOTEL &amp; ACCOMMODATION 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Handpicked Stays Near Har Ki Pauri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Smart Filtering</a:t>
            </a:r>
            <a:r>
              <a:rPr sz="1300">
                <a:solidFill>
                  <a:srgbClr val="5A5A5A"/>
                </a:solidFill>
                <a:latin typeface="Calibri"/>
              </a:rPr>
              <a:t> — Search by location, price, amenities, and star rating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Three Price Tiers</a:t>
            </a:r>
            <a:r>
              <a:rPr sz="1300">
                <a:solidFill>
                  <a:srgbClr val="5A5A5A"/>
                </a:solidFill>
                <a:latin typeface="Calibri"/>
              </a:rPr>
              <a:t> — Budget, Standard, and Premium categories for every pilgrim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Property Types</a:t>
            </a:r>
            <a:r>
              <a:rPr sz="1300">
                <a:solidFill>
                  <a:srgbClr val="5A5A5A"/>
                </a:solidFill>
                <a:latin typeface="Calibri"/>
              </a:rPr>
              <a:t> — Hotels, Dharamshalas, Ashrams, and Boutique stays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Commission Management</a:t>
            </a:r>
            <a:r>
              <a:rPr sz="1300">
                <a:solidFill>
                  <a:srgbClr val="5A5A5A"/>
                </a:solidFill>
                <a:latin typeface="Calibri"/>
              </a:rPr>
              <a:t> — Transparent 10-18% tiered commission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Real-Time Availability</a:t>
            </a:r>
            <a:r>
              <a:rPr sz="1300">
                <a:solidFill>
                  <a:srgbClr val="5A5A5A"/>
                </a:solidFill>
                <a:latin typeface="Calibri"/>
              </a:rPr>
              <a:t> — Live room inventory with instant confirmation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ENVIRONMENTAL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2D6A3F"/>
                </a:solidFill>
                <a:latin typeface="Georgia"/>
              </a:defRPr>
            </a:pPr>
            <a:r>
              <a:t>Green Haridwar </a:t>
            </a:r>
            <a:r>
              <a:rPr sz="2600"/>
              <a:t>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201168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2D6A3F"/>
                </a:solidFill>
                <a:latin typeface="Calibri"/>
              </a:defRPr>
            </a:pPr>
            <a:r>
              <a:t>Social Media</a:t>
            </a:r>
            <a:br/>
            <a:r>
              <a:t>Campaigns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20240"/>
            <a:ext cx="201168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2D6A3F"/>
                </a:solidFill>
                <a:latin typeface="Calibri"/>
              </a:defRPr>
            </a:pPr>
            <a:r>
              <a:t>Volunteer</a:t>
            </a:r>
            <a:br/>
            <a:r>
              <a:t>Drives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920240"/>
            <a:ext cx="201168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2D6A3F"/>
                </a:solidFill>
                <a:latin typeface="Calibri"/>
              </a:defRPr>
            </a:pPr>
            <a:r>
              <a:t>Green</a:t>
            </a:r>
            <a:br/>
            <a:r>
              <a:t>Challenges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60920" y="1920240"/>
            <a:ext cx="201168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2D6A3F"/>
                </a:solidFill>
                <a:latin typeface="Calibri"/>
              </a:defRPr>
            </a:pPr>
            <a:r>
              <a:t>Issue</a:t>
            </a:r>
            <a:br/>
            <a:r>
              <a:t>Reporting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920240"/>
            <a:ext cx="201168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2D6A3F"/>
                </a:solidFill>
                <a:latin typeface="Calibri"/>
              </a:defRPr>
            </a:pPr>
            <a:r>
              <a:t>Event</a:t>
            </a:r>
            <a:br/>
            <a:r>
              <a:t>Awareness</a:t>
            </a:r>
          </a:p>
        </p:txBody>
      </p:sp>
      <p:pic>
        <p:nvPicPr>
          <p:cNvPr id="14" name="Picture 13" descr="Green Haridwar — Hero 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17520"/>
            <a:ext cx="5943600" cy="30175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132320" y="3017520"/>
            <a:ext cx="4389120" cy="301752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31546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2D6A3F"/>
                </a:solidFill>
                <a:latin typeface="Georgia"/>
              </a:defRPr>
            </a:pPr>
            <a:r>
              <a:t>Partnering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611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6A3F"/>
                </a:solidFill>
                <a:latin typeface="Calibri"/>
              </a:rPr>
              <a:t>● </a:t>
            </a:r>
            <a:r>
              <a:rPr sz="1200">
                <a:solidFill>
                  <a:srgbClr val="1A1A1A"/>
                </a:solidFill>
                <a:latin typeface="Calibri"/>
              </a:rPr>
              <a:t>Uttarakhand State Government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9776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6A3F"/>
                </a:solidFill>
                <a:latin typeface="Calibri"/>
              </a:rPr>
              <a:t>● </a:t>
            </a:r>
            <a:r>
              <a:rPr sz="1200">
                <a:solidFill>
                  <a:srgbClr val="1A1A1A"/>
                </a:solidFill>
                <a:latin typeface="Calibri"/>
              </a:rPr>
              <a:t>National Mission for Clean Ganga (NMCG)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343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6A3F"/>
                </a:solidFill>
                <a:latin typeface="Calibri"/>
              </a:rPr>
              <a:t>● </a:t>
            </a:r>
            <a:r>
              <a:rPr sz="1200">
                <a:solidFill>
                  <a:srgbClr val="1A1A1A"/>
                </a:solidFill>
                <a:latin typeface="Calibri"/>
              </a:rPr>
              <a:t>Haridwar Municipal Corporation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7091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D6A3F"/>
                </a:solidFill>
                <a:latin typeface="Calibri"/>
              </a:rPr>
              <a:t>● </a:t>
            </a:r>
            <a:r>
              <a:rPr sz="1200">
                <a:solidFill>
                  <a:srgbClr val="1A1A1A"/>
                </a:solidFill>
                <a:latin typeface="Calibri"/>
              </a:rPr>
              <a:t>Local Environmental NGOs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pic>
        <p:nvPicPr>
          <p:cNvPr id="6" name="Picture 5" descr="Haridwar Interactive Map with Report P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846320" cy="2743200"/>
          </a:xfrm>
          <a:prstGeom prst="rect">
            <a:avLst/>
          </a:prstGeom>
        </p:spPr>
      </p:pic>
      <p:pic>
        <p:nvPicPr>
          <p:cNvPr id="7" name="Picture 6" descr="Issue Report Submission 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4846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REAL-TIME ISSUE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Citizen-Powered Environmental Monitoring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91640"/>
            <a:ext cx="731520" cy="4572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4 Issue Categories</a:t>
            </a:r>
            <a:r>
              <a:rPr sz="1300">
                <a:solidFill>
                  <a:srgbClr val="5A5A5A"/>
                </a:solidFill>
                <a:latin typeface="Calibri"/>
              </a:rPr>
              <a:t> — Pollution, Waste Dumping, Water Quality, Encroachment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Location Picker</a:t>
            </a:r>
            <a:r>
              <a:rPr sz="1300">
                <a:solidFill>
                  <a:srgbClr val="5A5A5A"/>
                </a:solidFill>
                <a:latin typeface="Calibri"/>
              </a:rPr>
              <a:t> — Interactive map with GPS pin-drop for precise reporting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Photo Upload</a:t>
            </a:r>
            <a:r>
              <a:rPr sz="1300">
                <a:solidFill>
                  <a:srgbClr val="5A5A5A"/>
                </a:solidFill>
                <a:latin typeface="Calibri"/>
              </a:rPr>
              <a:t> — Visual evidence attached to every report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Status Tracking</a:t>
            </a:r>
            <a:r>
              <a:rPr sz="1300">
                <a:solidFill>
                  <a:srgbClr val="5A5A5A"/>
                </a:solidFill>
                <a:latin typeface="Calibri"/>
              </a:rPr>
              <a:t> — Real-time updates: Submitted → Under Review → Resolved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114800"/>
            <a:ext cx="5486400" cy="91440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160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D6A3F"/>
                </a:solidFill>
                <a:latin typeface="Georgia"/>
              </a:defRPr>
            </a:pPr>
            <a:r>
              <a:t>For Government &amp; Authorities</a:t>
            </a:r>
          </a:p>
          <a:p>
            <a:pPr algn="l">
              <a:spcBef>
                <a:spcPts val="400"/>
              </a:spcBef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Real-time environmental data dashboard enabling faster response times, resource allocation, and evidence-based policy decisions during the Mela.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GREEN CHALLENGES &amp; VOLUNTEER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Gamified Sustainability for Mass Participation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2D6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Photo-Verified Challenges</a:t>
            </a:r>
            <a:r>
              <a:rPr sz="1300">
                <a:solidFill>
                  <a:srgbClr val="5A5A5A"/>
                </a:solidFill>
                <a:latin typeface="Calibri"/>
              </a:rPr>
              <a:t> — Participants submit evidence of eco-actions for approval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Leaderboard &amp; Rewards</a:t>
            </a:r>
            <a:r>
              <a:rPr sz="1300">
                <a:solidFill>
                  <a:srgbClr val="5A5A5A"/>
                </a:solidFill>
                <a:latin typeface="Calibri"/>
              </a:rPr>
              <a:t> — Top contributors earn certificates and recognition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D6A3F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Volunteer Registration</a:t>
            </a:r>
            <a:r>
              <a:rPr sz="1300">
                <a:solidFill>
                  <a:srgbClr val="5A5A5A"/>
                </a:solidFill>
                <a:latin typeface="Calibri"/>
              </a:rPr>
              <a:t> — One-click sign-up for clean-up drives and tree planting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228600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2D6A3F"/>
                </a:solidFill>
                <a:latin typeface="Georgia"/>
              </a:defRPr>
            </a:pPr>
            <a:r>
              <a:t>2,400+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Registered Volunteers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931920"/>
            <a:ext cx="2286000" cy="822960"/>
          </a:xfrm>
          <a:prstGeom prst="rect">
            <a:avLst/>
          </a:prstGeom>
          <a:solidFill>
            <a:srgbClr val="EB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2D6A3F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Active Challenges</a:t>
            </a:r>
          </a:p>
        </p:txBody>
      </p:sp>
      <p:pic>
        <p:nvPicPr>
          <p:cNvPr id="16" name="Picture 15" descr="Green Challenges Li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2743200"/>
          </a:xfrm>
          <a:prstGeom prst="rect">
            <a:avLst/>
          </a:prstGeom>
        </p:spPr>
      </p:pic>
      <p:pic>
        <p:nvPicPr>
          <p:cNvPr id="17" name="Picture 16" descr="Recent Environmental Reports 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94760"/>
            <a:ext cx="53035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PANDIT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Dedicated Dashboard for Registered Priests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Booking Management</a:t>
            </a:r>
            <a:r>
              <a:rPr sz="1300">
                <a:solidFill>
                  <a:srgbClr val="5A5A5A"/>
                </a:solidFill>
                <a:latin typeface="Calibri"/>
              </a:rPr>
              <a:t> — Accept, decline, and track incoming puja requests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Weekly Availability</a:t>
            </a:r>
            <a:r>
              <a:rPr sz="1300">
                <a:solidFill>
                  <a:srgbClr val="5A5A5A"/>
                </a:solidFill>
                <a:latin typeface="Calibri"/>
              </a:rPr>
              <a:t> — Set available dates and time slots for ceremonies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Live Session Access</a:t>
            </a:r>
            <a:r>
              <a:rPr sz="1300">
                <a:solidFill>
                  <a:srgbClr val="5A5A5A"/>
                </a:solidFill>
                <a:latin typeface="Calibri"/>
              </a:rPr>
              <a:t> — One-click join for live-streamed rituals via LiveKit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Approval Workflow</a:t>
            </a:r>
            <a:r>
              <a:rPr sz="1300">
                <a:solidFill>
                  <a:srgbClr val="5A5A5A"/>
                </a:solidFill>
                <a:latin typeface="Calibri"/>
              </a:rPr>
              <a:t> — Profile verification by admin before going live on platform</a:t>
            </a:r>
          </a:p>
        </p:txBody>
      </p:sp>
      <p:pic>
        <p:nvPicPr>
          <p:cNvPr id="10" name="Picture 9" descr="Pandit Dashboard — Main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pic>
        <p:nvPicPr>
          <p:cNvPr id="6" name="Picture 5" descr="Hotel Dashboard — Main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0292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HOTEL PARTNER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Self-Service Portal for Hotel Partners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Room Type Management</a:t>
            </a:r>
            <a:r>
              <a:rPr sz="1300">
                <a:solidFill>
                  <a:srgbClr val="5A5A5A"/>
                </a:solidFill>
                <a:latin typeface="Calibri"/>
              </a:rPr>
              <a:t> — Add and configure room categories, pricing, and capacity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Availability &amp; Date Blocking</a:t>
            </a:r>
            <a:r>
              <a:rPr sz="1300">
                <a:solidFill>
                  <a:srgbClr val="5A5A5A"/>
                </a:solidFill>
                <a:latin typeface="Calibri"/>
              </a:rPr>
              <a:t> — Calendar-based inventory control with blackout dates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Photo Gallery</a:t>
            </a:r>
            <a:r>
              <a:rPr sz="1300">
                <a:solidFill>
                  <a:srgbClr val="5A5A5A"/>
                </a:solidFill>
                <a:latin typeface="Calibri"/>
              </a:rPr>
              <a:t> — Upload property and room images to attract bookings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Earnings Dashboard</a:t>
            </a:r>
            <a:r>
              <a:rPr sz="1300">
                <a:solidFill>
                  <a:srgbClr val="5A5A5A"/>
                </a:solidFill>
                <a:latin typeface="Calibri"/>
              </a:rPr>
              <a:t> — Track revenue, commissions, and payout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pic>
        <p:nvPicPr>
          <p:cNvPr id="6" name="Picture 5" descr="Company Portal — Main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4846320" cy="2743200"/>
          </a:xfrm>
          <a:prstGeom prst="rect">
            <a:avLst/>
          </a:prstGeom>
        </p:spPr>
      </p:pic>
      <p:pic>
        <p:nvPicPr>
          <p:cNvPr id="7" name="Picture 6" descr="Bookings Management 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4846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ADMIN  ·  COMPANY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4300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Complete Platform Administration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Platform Analytics</a:t>
            </a:r>
            <a:r>
              <a:rPr sz="1300">
                <a:solidFill>
                  <a:srgbClr val="5A5A5A"/>
                </a:solidFill>
                <a:latin typeface="Calibri"/>
              </a:rPr>
              <a:t> — Real-time dashboards with booking volume, revenue &amp; user metrics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Pandit Approvals</a:t>
            </a:r>
            <a:r>
              <a:rPr sz="1300">
                <a:solidFill>
                  <a:srgbClr val="5A5A5A"/>
                </a:solidFill>
                <a:latin typeface="Calibri"/>
              </a:rPr>
              <a:t> — Review, verify, and approve pandit registrations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Livestream Management</a:t>
            </a:r>
            <a:r>
              <a:rPr sz="1300">
                <a:solidFill>
                  <a:srgbClr val="5A5A5A"/>
                </a:solidFill>
                <a:latin typeface="Calibri"/>
              </a:rPr>
              <a:t> — Control live darshan streams — start, stop, multi-camera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Marketing &amp; Content</a:t>
            </a:r>
            <a:r>
              <a:rPr sz="1300">
                <a:solidFill>
                  <a:srgbClr val="5A5A5A"/>
                </a:solidFill>
                <a:latin typeface="Calibri"/>
              </a:rPr>
              <a:t> — Manage homepage banners, promotions, and notifications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46A0A"/>
                </a:solidFill>
                <a:latin typeface="Calibri"/>
              </a:rPr>
              <a:t>● </a:t>
            </a:r>
            <a:r>
              <a:rPr sz="1300" b="1">
                <a:solidFill>
                  <a:srgbClr val="1A1A1A"/>
                </a:solidFill>
                <a:latin typeface="Calibri"/>
              </a:rPr>
              <a:t>Hotel Earnings</a:t>
            </a:r>
            <a:r>
              <a:rPr sz="1300">
                <a:solidFill>
                  <a:srgbClr val="5A5A5A"/>
                </a:solidFill>
                <a:latin typeface="Calibri"/>
              </a:rPr>
              <a:t> — Commission tracking and payout management for all properties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PILGRIMAGE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Everything a Pilgrim Needs — In One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920240"/>
          <a:ext cx="107899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389120"/>
              </a:tblGrid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Features</a:t>
                      </a:r>
                    </a:p>
                  </a:txBody>
                  <a:tcPr anchor="ctr">
                    <a:solidFill>
                      <a:srgbClr val="1B2D5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Rituals &amp; Pujas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Book authentic Vedic ceremonies online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50+ rituals, verified pandits, Prasad delivery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VIP Ghat Access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Reserved spots at prime bathing locations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Priority entry, guided experience, safety escort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Premium Stays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Curated hotels and heritage properties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to luxury, instant booking, real reviews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Satvik Meals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Traditional vegetarian meal plans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Pre-booked thalis, dietary customisation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Travel Assistance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End-to-end logistics and transport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Airport transfers, local cabs, route planning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24×7 Concierge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Round-the-clock pilgrim support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WhatsApp, call centre, multilingual agents</a:t>
                      </a:r>
                    </a:p>
                  </a:txBody>
                  <a:tcPr anchor="ctr">
                    <a:solidFill>
                      <a:srgbClr val="F5F0E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Veda Hydration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Branded purified water for pilgrims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Eco-friendly packaging, ghat distribution</a:t>
                      </a:r>
                    </a:p>
                  </a:txBody>
                  <a:tcPr anchor="ctr">
                    <a:solidFill>
                      <a:srgbClr val="FDF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Georgia"/>
              </a:defRPr>
            </a:pPr>
            <a:r>
              <a:t>Chalo Kumbh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Chalo Kumbh  ·  Ardh Kumbh Mela 2027  ·  chalokumbh.com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6A0A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D5B"/>
                </a:solidFill>
                <a:latin typeface="Georgia"/>
              </a:defRPr>
            </a:pPr>
            <a:r>
              <a:t>Digital Infrastructure for India's Largest Gathering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291840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150M+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Projected Pilgrims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291840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24×7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Support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011680"/>
            <a:ext cx="3291840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5B942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514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Dedicated Portals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303520" cy="2377440"/>
          </a:xfrm>
          <a:prstGeom prst="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D46A0A"/>
                </a:solidFill>
                <a:latin typeface="Georgia"/>
              </a:defRPr>
            </a:pPr>
            <a:r>
              <a:t>🇮🇳  Digital India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46A0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Paperless booking and digital payments for all services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46A0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Real-time data dashboards for government authorities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46A0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Scalable cloud infrastructure for 150M+ pilgrims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566160"/>
            <a:ext cx="5303520" cy="2377440"/>
          </a:xfrm>
          <a:prstGeom prst="rect">
            <a:avLst/>
          </a:prstGeom>
          <a:solidFill>
            <a:srgbClr val="E0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6B8A"/>
                </a:solidFill>
                <a:latin typeface="Georgia"/>
              </a:defRPr>
            </a:pPr>
            <a:r>
              <a:t>🌊  Swachh Bharat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6B8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Green Haridwar initiative for environmental monitoring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6B8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Citizen-powered issue reporting with real-time tracking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6B8A"/>
                </a:solidFill>
                <a:latin typeface="Calibri"/>
              </a:rPr>
              <a:t>● </a:t>
            </a:r>
            <a:r>
              <a:rPr sz="1100" b="1">
                <a:solidFill>
                  <a:srgbClr val="1A1A1A"/>
                </a:solidFill>
                <a:latin typeface="Calibri"/>
              </a:rPr>
              <a:t>Gamified volunteer engagement for cleanliness drives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mepage 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umbh Mela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87" y="1280160"/>
            <a:ext cx="164592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5B942"/>
                </a:solidFill>
                <a:latin typeface="Calibri"/>
              </a:defRPr>
            </a:pPr>
            <a:r>
              <a:t>HAR HAR GANGE  ·  JAI GANGA MAIYA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Together, Let Us Make Kumbh 2027 Extraordinary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047" y="4389120"/>
            <a:ext cx="1371600" cy="45720"/>
          </a:xfrm>
          <a:prstGeom prst="rect">
            <a:avLst/>
          </a:prstGeom>
          <a:solidFill>
            <a:srgbClr val="D46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B942"/>
                </a:solidFill>
                <a:latin typeface="Calibri"/>
              </a:rPr>
              <a:t>Platform:  </a:t>
            </a:r>
            <a:r>
              <a:rPr sz="1200">
                <a:solidFill>
                  <a:srgbClr val="FFFFFF"/>
                </a:solidFill>
                <a:latin typeface="Calibri"/>
              </a:rPr>
              <a:t>chalokumbh.com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754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B942"/>
                </a:solidFill>
                <a:latin typeface="Calibri"/>
              </a:rPr>
              <a:t>Built By:  </a:t>
            </a:r>
            <a:r>
              <a:rPr sz="1200">
                <a:solidFill>
                  <a:srgbClr val="FFFFFF"/>
                </a:solidFill>
                <a:latin typeface="Calibri"/>
              </a:rPr>
              <a:t>USJ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5B942"/>
                </a:solidFill>
                <a:latin typeface="Calibri"/>
              </a:rPr>
              <a:t>Contact:  </a:t>
            </a:r>
            <a:r>
              <a:rPr sz="1200">
                <a:solidFill>
                  <a:srgbClr val="FFFFFF"/>
                </a:solidFill>
                <a:latin typeface="Calibri"/>
              </a:rPr>
              <a:t>techteam@usjtechnologies.com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